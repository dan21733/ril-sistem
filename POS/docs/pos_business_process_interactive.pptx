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  <p:defaultTextStyle>
    <a:defPPr>
      <a:defRPr lang="id-ID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>
        <a:defRPr lang="id-ID"/>
      </a:lvl1pPr>
    </p:titleStyle>
    <p:bodyStyle>
      <a:lvl1pPr>
        <a:defRPr lang="id-ID"/>
      </a:lvl1pPr>
    </p:bodyStyle>
    <p:otherStyle>
      <a:lvl1pPr>
        <a:defRPr lang="id-ID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8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5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6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9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5.xml"/><Relationship Id="rId9" Type="http://schemas.openxmlformats.org/officeDocument/2006/relationships/slide" Target="slide9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3.xml"/><Relationship Id="rId9" Type="http://schemas.openxmlformats.org/officeDocument/2006/relationships/slide" Target="slide5.xml"/><Relationship Id="rId10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/>
          <p:cNvSpPr/>
          <p:nvPr/>
        </p:nvSpPr>
        <p:spPr>
          <a:xfrm>
            <a:off x="731520" y="530352"/>
            <a:ext cx="10789920" cy="27432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 b="1">
                <a:solidFill>
                  <a:srgbClr val="58C7B3"/>
                </a:solidFill>
                <a:latin typeface="Aptos"/>
              </a:rPr>
              <a:t xml:space="preserve">PANDUAN INTERAKTIF  •  OPERASIONAL TOKO</a:t>
            </a:r>
            <a:endParaRPr lang="id-ID" sz="1000"/>
          </a:p>
        </p:txBody>
      </p:sp>
      <p:sp>
        <p:nvSpPr>
          <p:cNvPr id="4" name="Shape 4"/>
          <p:cNvSpPr/>
          <p:nvPr/>
        </p:nvSpPr>
        <p:spPr>
          <a:xfrm>
            <a:off x="713232" y="1024128"/>
            <a:ext cx="10881360" cy="10789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3500" b="1">
                <a:solidFill>
                  <a:srgbClr val="FFFFFF"/>
                </a:solidFill>
                <a:latin typeface="Aptos"/>
              </a:rPr>
              <a:t xml:space="preserve">Alur Transaksi POS</a:t>
            </a:r>
            <a:endParaRPr lang="id-ID" sz="3500"/>
          </a:p>
          <a:p>
            <a:pPr algn="l" marB="500"/>
            <a:r>
              <a:rPr lang="id-ID" sz="1700">
                <a:solidFill>
                  <a:srgbClr val="B8C6D8"/>
                </a:solidFill>
                <a:latin typeface="Aptos"/>
              </a:rPr>
              <a:t xml:space="preserve">Dari keranjang hingga nota resmi — online maupun offline</a:t>
            </a:r>
            <a:endParaRPr lang="id-ID" sz="1700"/>
          </a:p>
        </p:txBody>
      </p:sp>
      <p:sp>
        <p:nvSpPr>
          <p:cNvPr id="5" name="Shape 5"/>
          <p:cNvSpPr/>
          <p:nvPr/>
        </p:nvSpPr>
        <p:spPr>
          <a:xfrm>
            <a:off x="749808" y="2331720"/>
            <a:ext cx="10698480" cy="502920"/>
          </a:xfrm>
          <a:prstGeom prst="roundRect">
            <a:avLst/>
          </a:prstGeom>
          <a:solidFill>
            <a:srgbClr val="182437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300">
                <a:solidFill>
                  <a:srgbClr val="C4D0E0"/>
                </a:solidFill>
                <a:latin typeface="Aptos"/>
              </a:rPr>
              <a:t xml:space="preserve">Pilih bagian untuk langsung menjelajah. Tombol navigasi tersedia di setiap slide.</a:t>
            </a:r>
            <a:endParaRPr lang="id-ID" sz="1300"/>
          </a:p>
        </p:txBody>
      </p:sp>
      <p:sp>
        <p:nvSpPr>
          <p:cNvPr id="6" name="Shape 6">
            <a:hlinkClick r:id="rId2" action="ppaction://hlinksldjump" tooltip="01  ALUR UTAMA — buka detail"/>
          </p:cNvPr>
          <p:cNvSpPr/>
          <p:nvPr/>
        </p:nvSpPr>
        <p:spPr>
          <a:xfrm>
            <a:off x="749808" y="3154680"/>
            <a:ext cx="5166360" cy="107899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01  ALUR UTAMA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Cari barang • keranjang • harga • pembayaran</a:t>
            </a:r>
            <a:endParaRPr lang="id-ID" sz="1100"/>
          </a:p>
        </p:txBody>
      </p:sp>
      <p:sp>
        <p:nvSpPr>
          <p:cNvPr id="7" name="Shape 7"/>
          <p:cNvSpPr/>
          <p:nvPr/>
        </p:nvSpPr>
        <p:spPr>
          <a:xfrm>
            <a:off x="749808" y="3227832"/>
            <a:ext cx="50292" cy="932688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8" name="Shape 8">
            <a:hlinkClick r:id="rId3" action="ppaction://hlinksldjump" tooltip="02  JALUR ONLINE — buka detail"/>
          </p:cNvPr>
          <p:cNvSpPr/>
          <p:nvPr/>
        </p:nvSpPr>
        <p:spPr>
          <a:xfrm>
            <a:off x="6199632" y="3154680"/>
            <a:ext cx="5166360" cy="107899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02  JALUR ONLINE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PIN • validasi • simpan stok • nomor resmi</a:t>
            </a:r>
            <a:endParaRPr lang="id-ID" sz="1100"/>
          </a:p>
        </p:txBody>
      </p:sp>
      <p:sp>
        <p:nvSpPr>
          <p:cNvPr id="9" name="Shape 9"/>
          <p:cNvSpPr/>
          <p:nvPr/>
        </p:nvSpPr>
        <p:spPr>
          <a:xfrm>
            <a:off x="6199632" y="3227832"/>
            <a:ext cx="50292" cy="93268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0" name="Shape 10">
            <a:hlinkClick r:id="rId4" action="ppaction://hlinksldjump" tooltip="03  JALUR OFFLINE — buka detail"/>
          </p:cNvPr>
          <p:cNvSpPr/>
          <p:nvPr/>
        </p:nvSpPr>
        <p:spPr>
          <a:xfrm>
            <a:off x="749808" y="4498848"/>
            <a:ext cx="5166360" cy="107899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03  JALUR OFFLINE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Tetap melayani • nota lokal • tanpa PIN</a:t>
            </a:r>
            <a:endParaRPr lang="id-ID" sz="1100"/>
          </a:p>
        </p:txBody>
      </p:sp>
      <p:sp>
        <p:nvSpPr>
          <p:cNvPr id="11" name="Shape 11"/>
          <p:cNvSpPr/>
          <p:nvPr/>
        </p:nvSpPr>
        <p:spPr>
          <a:xfrm>
            <a:off x="749808" y="4572000"/>
            <a:ext cx="50292" cy="93268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2" name="Shape 12">
            <a:hlinkClick r:id="rId5" action="ppaction://hlinksldjump" tooltip="04  SINKRONISASI — buka detail"/>
          </p:cNvPr>
          <p:cNvSpPr/>
          <p:nvPr/>
        </p:nvSpPr>
        <p:spPr>
          <a:xfrm>
            <a:off x="6199632" y="4498848"/>
            <a:ext cx="5166360" cy="107899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04  SINKRONISASI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Antrean • kirim bertahap • hasil per nota</a:t>
            </a:r>
            <a:endParaRPr lang="id-ID" sz="1100"/>
          </a:p>
        </p:txBody>
      </p:sp>
      <p:sp>
        <p:nvSpPr>
          <p:cNvPr id="13" name="Shape 13"/>
          <p:cNvSpPr/>
          <p:nvPr/>
        </p:nvSpPr>
        <p:spPr>
          <a:xfrm>
            <a:off x="6199632" y="4572000"/>
            <a:ext cx="50292" cy="932688"/>
          </a:xfrm>
          <a:prstGeom prst="rect">
            <a:avLst/>
          </a:prstGeom>
          <a:solidFill>
            <a:srgbClr val="BD9AFF"/>
          </a:solidFill>
          <a:ln w="12700">
            <a:solidFill>
              <a:srgbClr val="BD9A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4" name="Shape 14"/>
          <p:cNvSpPr/>
          <p:nvPr/>
        </p:nvSpPr>
        <p:spPr>
          <a:xfrm>
            <a:off x="749808" y="6080760"/>
            <a:ext cx="10607040" cy="34747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ctr" marB="500"/>
            <a:r>
              <a:rPr lang="id-ID" sz="1000">
                <a:solidFill>
                  <a:srgbClr val="8295AC"/>
                </a:solidFill>
                <a:latin typeface="Aptos"/>
              </a:rPr>
              <a:t xml:space="preserve">Klik kartu untuk mulai • Isi slide dirancang ringkas untuk pemilik toko dan kasir</a:t>
            </a:r>
            <a:endParaRPr lang="id-ID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18766F"/>
          </a:solidFill>
          <a:ln w="25400">
            <a:solidFill>
              <a:srgbClr val="49BDAE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8" action="ppaction://hlinksldjump" tooltip="Lanjut ke slide 3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Gambaran besar transaksi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Proses penjualan selalu dimulai dari pelayanan yang sama, lalu bercabang mengikuti koneksi internet.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02 / 11</a:t>
            </a:r>
            <a:endParaRPr lang="id-ID" sz="800"/>
          </a:p>
        </p:txBody>
      </p:sp>
      <p:sp>
        <p:nvSpPr>
          <p:cNvPr id="13" name="Shape 13">
            <a:hlinkClick r:id="rId8" action="ppaction://hlinksldjump" tooltip="1. Layani pembeli — buka detail"/>
          </p:cNvPr>
          <p:cNvSpPr/>
          <p:nvPr/>
        </p:nvSpPr>
        <p:spPr>
          <a:xfrm>
            <a:off x="713232" y="1865376"/>
            <a:ext cx="3456432" cy="185623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BAGIAN BERSAMA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1. Layani pembeli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Cari barang, masukkan ke keranjang, dan sepakati harga.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Jika dinegosiasikan, harga harus tetap dalam batas.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13232" y="1938528"/>
            <a:ext cx="50292" cy="1709928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/>
          <p:cNvSpPr/>
          <p:nvPr/>
        </p:nvSpPr>
        <p:spPr>
          <a:xfrm>
            <a:off x="4215384" y="2505456"/>
            <a:ext cx="438912" cy="50292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ctr" marB="0"/>
            <a:r>
              <a:rPr lang="id-ID" sz="2500" b="1">
                <a:solidFill>
                  <a:srgbClr val="8295AC"/>
                </a:solidFill>
                <a:latin typeface="Aptos"/>
              </a:rPr>
              <a:t xml:space="preserve">→</a:t>
            </a:r>
            <a:endParaRPr lang="id-ID" sz="2500"/>
          </a:p>
        </p:txBody>
      </p:sp>
      <p:sp>
        <p:nvSpPr>
          <p:cNvPr id="16" name="Shape 16">
            <a:hlinkClick r:id="rId8" action="ppaction://hlinksldjump" tooltip="2. Tentukan pemenuhan — buka detail"/>
          </p:cNvPr>
          <p:cNvSpPr/>
          <p:nvPr/>
        </p:nvSpPr>
        <p:spPr>
          <a:xfrm>
            <a:off x="4681728" y="1865376"/>
            <a:ext cx="3246120" cy="185623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BAGIAN BERSAMA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2. Tentukan pemenuhan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Ambil sendiri tanpa ongkir, atau diantar dengan ongkir.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Kasir melanjutkan ke pembayaran.</a:t>
            </a:r>
            <a:endParaRPr lang="id-ID" sz="1100"/>
          </a:p>
        </p:txBody>
      </p:sp>
      <p:sp>
        <p:nvSpPr>
          <p:cNvPr id="17" name="Shape 17"/>
          <p:cNvSpPr/>
          <p:nvPr/>
        </p:nvSpPr>
        <p:spPr>
          <a:xfrm>
            <a:off x="4681728" y="1938528"/>
            <a:ext cx="50292" cy="1709928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8" name="Shape 18"/>
          <p:cNvSpPr/>
          <p:nvPr/>
        </p:nvSpPr>
        <p:spPr>
          <a:xfrm>
            <a:off x="7973568" y="2505456"/>
            <a:ext cx="438912" cy="50292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ctr" marB="0"/>
            <a:r>
              <a:rPr lang="id-ID" sz="2500" b="1">
                <a:solidFill>
                  <a:srgbClr val="8295AC"/>
                </a:solidFill>
                <a:latin typeface="Aptos"/>
              </a:rPr>
              <a:t xml:space="preserve">→</a:t>
            </a:r>
            <a:endParaRPr lang="id-ID" sz="2500"/>
          </a:p>
        </p:txBody>
      </p:sp>
      <p:sp>
        <p:nvSpPr>
          <p:cNvPr id="19" name="Shape 19">
            <a:hlinkClick r:id="rId4" action="ppaction://hlinksldjump" tooltip="3. Cek koneksi — buka detail"/>
          </p:cNvPr>
          <p:cNvSpPr/>
          <p:nvPr/>
        </p:nvSpPr>
        <p:spPr>
          <a:xfrm>
            <a:off x="8439912" y="1865376"/>
            <a:ext cx="3017520" cy="185623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PILIH JALUR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3. Cek koneksi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Online: transaksi langsung divalidasi dan dicatat.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Offline: nota ditampung dahulu di perangkat.</a:t>
            </a:r>
            <a:endParaRPr lang="id-ID" sz="1100"/>
          </a:p>
        </p:txBody>
      </p:sp>
      <p:sp>
        <p:nvSpPr>
          <p:cNvPr id="20" name="Shape 20"/>
          <p:cNvSpPr/>
          <p:nvPr/>
        </p:nvSpPr>
        <p:spPr>
          <a:xfrm>
            <a:off x="8439912" y="1938528"/>
            <a:ext cx="50292" cy="170992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1" name="Shape 21">
            <a:hlinkClick r:id="rId4" action="ppaction://hlinksldjump" tooltip="ONLINE  → — buka detail"/>
          </p:cNvPr>
          <p:cNvSpPr/>
          <p:nvPr/>
        </p:nvSpPr>
        <p:spPr>
          <a:xfrm>
            <a:off x="868680" y="4160520"/>
            <a:ext cx="4983480" cy="130759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ONLINE  →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PIN wajib • stok diperiksa • nota resmi dicetak</a:t>
            </a:r>
            <a:endParaRPr lang="id-ID" sz="1100"/>
          </a:p>
        </p:txBody>
      </p:sp>
      <p:sp>
        <p:nvSpPr>
          <p:cNvPr id="22" name="Shape 22"/>
          <p:cNvSpPr/>
          <p:nvPr/>
        </p:nvSpPr>
        <p:spPr>
          <a:xfrm>
            <a:off x="868680" y="4233672"/>
            <a:ext cx="50292" cy="116128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3" name="Shape 23">
            <a:hlinkClick r:id="rId5" action="ppaction://hlinksldjump" tooltip="OFFLINE  → — buka detail"/>
          </p:cNvPr>
          <p:cNvSpPr/>
          <p:nvPr/>
        </p:nvSpPr>
        <p:spPr>
          <a:xfrm>
            <a:off x="6291072" y="4160520"/>
            <a:ext cx="4983480" cy="130759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OFFLINE  →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Tanpa PIN • nota lokal tetap dicetak • sinkron nanti</a:t>
            </a:r>
            <a:endParaRPr lang="id-ID" sz="1100"/>
          </a:p>
        </p:txBody>
      </p:sp>
      <p:sp>
        <p:nvSpPr>
          <p:cNvPr id="24" name="Shape 24"/>
          <p:cNvSpPr/>
          <p:nvPr/>
        </p:nvSpPr>
        <p:spPr>
          <a:xfrm>
            <a:off x="6291072" y="4233672"/>
            <a:ext cx="50292" cy="116128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5" name="Shape 25"/>
          <p:cNvSpPr/>
          <p:nvPr/>
        </p:nvSpPr>
        <p:spPr>
          <a:xfrm>
            <a:off x="896112" y="5687568"/>
            <a:ext cx="10332720" cy="457200"/>
          </a:xfrm>
          <a:prstGeom prst="roundRect">
            <a:avLst/>
          </a:prstGeom>
          <a:solidFill>
            <a:srgbClr val="322D29"/>
          </a:solidFill>
          <a:ln w="12700">
            <a:solidFill>
              <a:srgbClr val="65533A"/>
            </a:solidFill>
          </a:ln>
        </p:spPr>
        <p:txBody>
          <a:bodyPr wrap="square" lIns="146304" rIns="146304" tIns="146304" bIns="146304" anchor="ctr"/>
          <a:lstStyle/>
          <a:p>
            <a:pPr algn="ctr" marB="500"/>
            <a:r>
              <a:rPr lang="id-ID" sz="1100" b="1">
                <a:solidFill>
                  <a:srgbClr val="F3BD65"/>
                </a:solidFill>
                <a:latin typeface="Aptos"/>
              </a:rPr>
              <a:t xml:space="preserve">Aturan harga: di atas harga terendah dan tidak melampaui harga daftar. Harga di luar batas ditolak.</a:t>
            </a:r>
            <a:endParaRPr lang="id-ID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4" action="ppaction://hlinksldjump" tooltip="Lanjut ke slide 4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Sebelum pembayaran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Langkah pelayanan yang sama untuk kedua jalur transaksi.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03 / 11</a:t>
            </a:r>
            <a:endParaRPr lang="id-ID" sz="800"/>
          </a:p>
        </p:txBody>
      </p:sp>
      <p:sp>
        <p:nvSpPr>
          <p:cNvPr id="13" name="Shape 13"/>
          <p:cNvSpPr/>
          <p:nvPr/>
        </p:nvSpPr>
        <p:spPr>
          <a:xfrm>
            <a:off x="749808" y="1865376"/>
            <a:ext cx="5166360" cy="164592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58C7B3"/>
                </a:solidFill>
                <a:latin typeface="Aptos"/>
              </a:rPr>
              <a:t xml:space="preserve">01 • KERANJANG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Cari barang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Kasir mencari barang berdasarkan nama; salah ketik atau alias tetap dapat membantu pencarian.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Barang yang dipilih masuk ke keranjang.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49808" y="1938528"/>
            <a:ext cx="50292" cy="1499616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/>
          <p:cNvSpPr/>
          <p:nvPr/>
        </p:nvSpPr>
        <p:spPr>
          <a:xfrm>
            <a:off x="6199632" y="1865376"/>
            <a:ext cx="5166360" cy="164592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58C7B3"/>
                </a:solidFill>
                <a:latin typeface="Aptos"/>
              </a:rPr>
              <a:t xml:space="preserve">02 • KESEPAKATAN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Negosiasi harga (opsional)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Jika tidak bernegosiasi, lanjutkan dengan harga yang berlaku.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Jika bernegosiasi, kasir memasukkan harga kesepakatan.</a:t>
            </a:r>
            <a:endParaRPr lang="id-ID" sz="1100"/>
          </a:p>
        </p:txBody>
      </p:sp>
      <p:sp>
        <p:nvSpPr>
          <p:cNvPr id="16" name="Shape 16"/>
          <p:cNvSpPr/>
          <p:nvPr/>
        </p:nvSpPr>
        <p:spPr>
          <a:xfrm>
            <a:off x="6199632" y="1938528"/>
            <a:ext cx="50292" cy="1499616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7" name="Shape 17"/>
          <p:cNvSpPr/>
          <p:nvPr/>
        </p:nvSpPr>
        <p:spPr>
          <a:xfrm>
            <a:off x="749808" y="3794760"/>
            <a:ext cx="5166360" cy="164592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03 • KONTROL HARGA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Pastikan harga dalam batas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Harga harus minimal sebesar harga terendah dan maksimal sebesar harga daftar.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Di bawah batas: perlu persetujuan pemilik, tetapi aturannya belum tersedia — transaksi ditolak.</a:t>
            </a:r>
            <a:endParaRPr lang="id-ID" sz="1100"/>
          </a:p>
        </p:txBody>
      </p:sp>
      <p:sp>
        <p:nvSpPr>
          <p:cNvPr id="18" name="Shape 18"/>
          <p:cNvSpPr/>
          <p:nvPr/>
        </p:nvSpPr>
        <p:spPr>
          <a:xfrm>
            <a:off x="749808" y="3867912"/>
            <a:ext cx="50292" cy="1499616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9" name="Shape 19"/>
          <p:cNvSpPr/>
          <p:nvPr/>
        </p:nvSpPr>
        <p:spPr>
          <a:xfrm>
            <a:off x="6199632" y="3794760"/>
            <a:ext cx="5166360" cy="164592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58C7B3"/>
                </a:solidFill>
                <a:latin typeface="Aptos"/>
              </a:rPr>
              <a:t xml:space="preserve">04 • PEMENUHAN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Pilih cara menerima barang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Ambil sendiri: tanpa ongkir.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Diantar: ongkir tidak boleh negatif dan ditambahkan ke total.</a:t>
            </a:r>
            <a:endParaRPr lang="id-ID" sz="1100"/>
          </a:p>
        </p:txBody>
      </p:sp>
      <p:sp>
        <p:nvSpPr>
          <p:cNvPr id="20" name="Shape 20"/>
          <p:cNvSpPr/>
          <p:nvPr/>
        </p:nvSpPr>
        <p:spPr>
          <a:xfrm>
            <a:off x="6199632" y="3867912"/>
            <a:ext cx="50292" cy="1499616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1" name="Shape 21"/>
          <p:cNvSpPr/>
          <p:nvPr/>
        </p:nvSpPr>
        <p:spPr>
          <a:xfrm>
            <a:off x="822960" y="5715000"/>
            <a:ext cx="10515600" cy="411480"/>
          </a:xfrm>
          <a:prstGeom prst="roundRect">
            <a:avLst/>
          </a:prstGeom>
          <a:solidFill>
            <a:srgbClr val="182437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ctr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Lanjutkan ke tombol bayar, kemudian pilih proses online atau offline sesuai koneksi.</a:t>
            </a:r>
            <a:endParaRPr lang="id-ID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18766F"/>
          </a:solidFill>
          <a:ln w="25400">
            <a:solidFill>
              <a:srgbClr val="49BDAE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8" action="ppaction://hlinksldjump" tooltip="Lanjut ke slide 5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Online • perangkat dan PIN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Saat tersambung, transaksi langsung dikirim untuk pemeriksaan sebelum dicatat.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04 / 11</a:t>
            </a:r>
            <a:endParaRPr lang="id-ID" sz="800"/>
          </a:p>
        </p:txBody>
      </p:sp>
      <p:sp>
        <p:nvSpPr>
          <p:cNvPr id="13" name="Shape 13"/>
          <p:cNvSpPr/>
          <p:nvPr/>
        </p:nvSpPr>
        <p:spPr>
          <a:xfrm>
            <a:off x="749808" y="1874520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69A9FF"/>
                </a:solidFill>
                <a:latin typeface="Aptos"/>
              </a:rPr>
              <a:t xml:space="preserve">MULAI ONLINE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1. PIN wajib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Kasir memasukkan PIN sebelum pengiriman transaksi online.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PIN tidak diminta untuk melayani transaksi offline.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49808" y="1947672"/>
            <a:ext cx="50292" cy="152704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/>
          <p:cNvSpPr/>
          <p:nvPr/>
        </p:nvSpPr>
        <p:spPr>
          <a:xfrm>
            <a:off x="6199632" y="1874520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PEMERIKSAAN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2. Perangkat terdaftar?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Jika tidak terdaftar atau sudah kedaluwarsa, transaksi belum diterima.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Daftarkan ulang perangkat lalu kirim transaksi kembali.</a:t>
            </a:r>
            <a:endParaRPr lang="id-ID" sz="1100"/>
          </a:p>
        </p:txBody>
      </p:sp>
      <p:sp>
        <p:nvSpPr>
          <p:cNvPr id="16" name="Shape 16"/>
          <p:cNvSpPr/>
          <p:nvPr/>
        </p:nvSpPr>
        <p:spPr>
          <a:xfrm>
            <a:off x="6199632" y="1947672"/>
            <a:ext cx="50292" cy="152704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7" name="Shape 17"/>
          <p:cNvSpPr/>
          <p:nvPr/>
        </p:nvSpPr>
        <p:spPr>
          <a:xfrm>
            <a:off x="749808" y="3822192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69A9FF"/>
                </a:solidFill>
                <a:latin typeface="Aptos"/>
              </a:rPr>
              <a:t xml:space="preserve">PEMERIKSAAN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3. PIN benar?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PIN yang benar melanjutkan validasi nota.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PIN salah: periksa kembali sebelum mencoba lagi.</a:t>
            </a:r>
            <a:endParaRPr lang="id-ID" sz="1100"/>
          </a:p>
        </p:txBody>
      </p:sp>
      <p:sp>
        <p:nvSpPr>
          <p:cNvPr id="18" name="Shape 18"/>
          <p:cNvSpPr/>
          <p:nvPr/>
        </p:nvSpPr>
        <p:spPr>
          <a:xfrm>
            <a:off x="749808" y="3895344"/>
            <a:ext cx="50292" cy="152704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9" name="Shape 19"/>
          <p:cNvSpPr/>
          <p:nvPr/>
        </p:nvSpPr>
        <p:spPr>
          <a:xfrm>
            <a:off x="6199632" y="3822192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JIKA GAGAL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Perlindungan percobaan PIN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Jika PIN salah berkali-kali, akses dikunci sementara.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Tunggu beberapa menit sebelum mencoba kembali.</a:t>
            </a:r>
            <a:endParaRPr lang="id-ID" sz="1100"/>
          </a:p>
        </p:txBody>
      </p:sp>
      <p:sp>
        <p:nvSpPr>
          <p:cNvPr id="20" name="Shape 20"/>
          <p:cNvSpPr/>
          <p:nvPr/>
        </p:nvSpPr>
        <p:spPr>
          <a:xfrm>
            <a:off x="6199632" y="3895344"/>
            <a:ext cx="50292" cy="152704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1" name="Shape 21"/>
          <p:cNvSpPr/>
          <p:nvPr/>
        </p:nvSpPr>
        <p:spPr>
          <a:xfrm>
            <a:off x="822960" y="5760720"/>
            <a:ext cx="10515600" cy="393192"/>
          </a:xfrm>
          <a:prstGeom prst="roundRect">
            <a:avLst/>
          </a:prstGeom>
          <a:solidFill>
            <a:srgbClr val="182437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ctr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Berhasil melewati pemeriksaan perangkat dan PIN? Lanjutkan ke validasi nota.</a:t>
            </a:r>
            <a:endParaRPr lang="id-ID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18766F"/>
          </a:solidFill>
          <a:ln w="25400">
            <a:solidFill>
              <a:srgbClr val="49BDAE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8" action="ppaction://hlinksldjump" tooltip="Lanjut ke slide 6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Online • validasi isi dan duplikasi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Sistem memeriksa satu transaksi sebelum menyimpan nota serta mengurangi stok.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05 / 11</a:t>
            </a:r>
            <a:endParaRPr lang="id-ID" sz="800"/>
          </a:p>
        </p:txBody>
      </p:sp>
      <p:sp>
        <p:nvSpPr>
          <p:cNvPr id="13" name="Shape 13"/>
          <p:cNvSpPr/>
          <p:nvPr/>
        </p:nvSpPr>
        <p:spPr>
          <a:xfrm>
            <a:off x="749808" y="1874520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69A9FF"/>
                </a:solidFill>
                <a:latin typeface="Aptos"/>
              </a:rPr>
              <a:t xml:space="preserve">VALIDASI NOTA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Nota lengkap dan benar?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Jumlah barang, total, pembayaran, dan kembalian harus sesuai.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Jika ada kesalahan, nota dikembalikan untuk diperbaiki.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49808" y="1947672"/>
            <a:ext cx="50292" cy="152704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/>
          <p:cNvSpPr/>
          <p:nvPr/>
        </p:nvSpPr>
        <p:spPr>
          <a:xfrm>
            <a:off x="6199632" y="1874520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58C7B3"/>
                </a:solidFill>
                <a:latin typeface="Aptos"/>
              </a:rPr>
              <a:t xml:space="preserve">ANTI-DUPLIKASI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Nota pernah tercatat?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Pengiriman ulang tidak boleh membuat transaksi yang sama dihitung dua kali.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Jika sudah tercatat, tandai beres tanpa pencatatan ganda.</a:t>
            </a:r>
            <a:endParaRPr lang="id-ID" sz="1100"/>
          </a:p>
        </p:txBody>
      </p:sp>
      <p:sp>
        <p:nvSpPr>
          <p:cNvPr id="16" name="Shape 16"/>
          <p:cNvSpPr/>
          <p:nvPr/>
        </p:nvSpPr>
        <p:spPr>
          <a:xfrm>
            <a:off x="6199632" y="1947672"/>
            <a:ext cx="50292" cy="1527048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7" name="Shape 17"/>
          <p:cNvSpPr/>
          <p:nvPr/>
        </p:nvSpPr>
        <p:spPr>
          <a:xfrm>
            <a:off x="749808" y="3822192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ESKALASI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Nomor nota bentrok?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Jika nomor ternyata milik nota lain, jangan menimpa catatan.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Minta petugas memeriksa dan menyelesaikannya secara manual.</a:t>
            </a:r>
            <a:endParaRPr lang="id-ID" sz="1100"/>
          </a:p>
        </p:txBody>
      </p:sp>
      <p:sp>
        <p:nvSpPr>
          <p:cNvPr id="18" name="Shape 18"/>
          <p:cNvSpPr/>
          <p:nvPr/>
        </p:nvSpPr>
        <p:spPr>
          <a:xfrm>
            <a:off x="749808" y="3895344"/>
            <a:ext cx="50292" cy="152704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9" name="Shape 19"/>
          <p:cNvSpPr/>
          <p:nvPr/>
        </p:nvSpPr>
        <p:spPr>
          <a:xfrm>
            <a:off x="6199632" y="3822192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69A9FF"/>
                </a:solidFill>
                <a:latin typeface="Aptos"/>
              </a:rPr>
              <a:t xml:space="preserve">STOK &amp; HARGA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Barang dan harga masih valid?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Barang harus masih tersedia dan harga tetap dalam rentang yang diizinkan.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Barang habis atau harga di luar batas: penjualan ditolak.</a:t>
            </a:r>
            <a:endParaRPr lang="id-ID" sz="1100"/>
          </a:p>
        </p:txBody>
      </p:sp>
      <p:sp>
        <p:nvSpPr>
          <p:cNvPr id="20" name="Shape 20"/>
          <p:cNvSpPr/>
          <p:nvPr/>
        </p:nvSpPr>
        <p:spPr>
          <a:xfrm>
            <a:off x="6199632" y="3895344"/>
            <a:ext cx="50292" cy="152704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1" name="Shape 21"/>
          <p:cNvSpPr/>
          <p:nvPr/>
        </p:nvSpPr>
        <p:spPr>
          <a:xfrm>
            <a:off x="822960" y="5760720"/>
            <a:ext cx="10515600" cy="393192"/>
          </a:xfrm>
          <a:prstGeom prst="roundRect">
            <a:avLst/>
          </a:prstGeom>
          <a:solidFill>
            <a:srgbClr val="182437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ctr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Semua pemeriksaan lolos? Nota disimpan utuh dan stok dikurangi sebagai satu proses.</a:t>
            </a:r>
            <a:endParaRPr lang="id-ID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18766F"/>
          </a:solidFill>
          <a:ln w="25400">
            <a:solidFill>
              <a:srgbClr val="49BDAE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8" action="ppaction://hlinksldjump" tooltip="Lanjut ke slide 11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Online • hasil transaksi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Keberhasilan mencatat penjualan harus sejalan dengan perubahan stok.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06 / 11</a:t>
            </a:r>
            <a:endParaRPr lang="id-ID" sz="800"/>
          </a:p>
        </p:txBody>
      </p:sp>
      <p:sp>
        <p:nvSpPr>
          <p:cNvPr id="13" name="Shape 13"/>
          <p:cNvSpPr/>
          <p:nvPr/>
        </p:nvSpPr>
        <p:spPr>
          <a:xfrm>
            <a:off x="749808" y="1874520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58C7B3"/>
                </a:solidFill>
                <a:latin typeface="Aptos"/>
              </a:rPr>
              <a:t xml:space="preserve">BERHASIL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Berhasil dicatat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Nota disimpan sebagai satu kesatuan.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Stok barang ikut dipotong; kemudian nota dicetak dengan nomor resmi.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49808" y="1947672"/>
            <a:ext cx="50292" cy="1527048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/>
          <p:cNvSpPr/>
          <p:nvPr/>
        </p:nvSpPr>
        <p:spPr>
          <a:xfrm>
            <a:off x="6199632" y="1874520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PERBAIKI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Data nota tidak cocok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Koreksi jumlah, total, uang bayar, atau kembalian.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Kirim ulang setelah isinya benar.</a:t>
            </a:r>
            <a:endParaRPr lang="id-ID" sz="1100"/>
          </a:p>
        </p:txBody>
      </p:sp>
      <p:sp>
        <p:nvSpPr>
          <p:cNvPr id="16" name="Shape 16"/>
          <p:cNvSpPr/>
          <p:nvPr/>
        </p:nvSpPr>
        <p:spPr>
          <a:xfrm>
            <a:off x="6199632" y="1947672"/>
            <a:ext cx="50292" cy="152704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7" name="Shape 17"/>
          <p:cNvSpPr/>
          <p:nvPr/>
        </p:nvSpPr>
        <p:spPr>
          <a:xfrm>
            <a:off x="749808" y="3822192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DITOLAK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Stok habis / harga ditolak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Penjualan tidak dicatat jika barang sudah habis atau harga keluar dari batas.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Kasir dapat menyesuaikan transaksi dan mencoba kembali.</a:t>
            </a:r>
            <a:endParaRPr lang="id-ID" sz="1100"/>
          </a:p>
        </p:txBody>
      </p:sp>
      <p:sp>
        <p:nvSpPr>
          <p:cNvPr id="18" name="Shape 18"/>
          <p:cNvSpPr/>
          <p:nvPr/>
        </p:nvSpPr>
        <p:spPr>
          <a:xfrm>
            <a:off x="749808" y="3895344"/>
            <a:ext cx="50292" cy="152704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9" name="Shape 19"/>
          <p:cNvSpPr/>
          <p:nvPr/>
        </p:nvSpPr>
        <p:spPr>
          <a:xfrm>
            <a:off x="6199632" y="3822192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BD9AFF"/>
                </a:solidFill>
                <a:latin typeface="Aptos"/>
              </a:rPr>
              <a:t xml:space="preserve">COBA LAGI DENGAN AMAN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Koneksi atau layanan terganggu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Jangan menyimpulkan transaksi gagal jika hasil belum diketahui.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Periksa status lalu kirim ulang dengan aman; transaksi tidak boleh tercatat ganda.</a:t>
            </a:r>
            <a:endParaRPr lang="id-ID" sz="1100"/>
          </a:p>
        </p:txBody>
      </p:sp>
      <p:sp>
        <p:nvSpPr>
          <p:cNvPr id="20" name="Shape 20"/>
          <p:cNvSpPr/>
          <p:nvPr/>
        </p:nvSpPr>
        <p:spPr>
          <a:xfrm>
            <a:off x="6199632" y="3895344"/>
            <a:ext cx="50292" cy="1527048"/>
          </a:xfrm>
          <a:prstGeom prst="rect">
            <a:avLst/>
          </a:prstGeom>
          <a:solidFill>
            <a:srgbClr val="BD9AFF"/>
          </a:solidFill>
          <a:ln w="12700">
            <a:solidFill>
              <a:srgbClr val="BD9A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1" name="Shape 21"/>
          <p:cNvSpPr/>
          <p:nvPr/>
        </p:nvSpPr>
        <p:spPr>
          <a:xfrm>
            <a:off x="822960" y="5760720"/>
            <a:ext cx="10515600" cy="393192"/>
          </a:xfrm>
          <a:prstGeom prst="roundRect">
            <a:avLst/>
          </a:prstGeom>
          <a:solidFill>
            <a:srgbClr val="182437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ctr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Transaksi selesai setelah nota berhasil tercatat atau ditangani sesuai alasan penolakannya.</a:t>
            </a:r>
            <a:endParaRPr lang="id-ID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18766F"/>
          </a:solidFill>
          <a:ln w="25400">
            <a:solidFill>
              <a:srgbClr val="49BDAE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6" action="ppaction://hlinksldjump" tooltip="Lanjut ke slide 8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Offline • tetap melayani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Ketiadaan koneksi tidak menghentikan kasir; transaksi menunggu pengiriman.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07 / 11</a:t>
            </a:r>
            <a:endParaRPr lang="id-ID" sz="800"/>
          </a:p>
        </p:txBody>
      </p:sp>
      <p:sp>
        <p:nvSpPr>
          <p:cNvPr id="13" name="Shape 13"/>
          <p:cNvSpPr/>
          <p:nvPr/>
        </p:nvSpPr>
        <p:spPr>
          <a:xfrm>
            <a:off x="749808" y="1947672"/>
            <a:ext cx="3401568" cy="233172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TANPA PIN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1. Lanjutkan penjualan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Tidak perlu PIN ketika offline.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Layanan tetap berjalan agar pembeli tidak terhambat.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49808" y="2020824"/>
            <a:ext cx="50292" cy="2185416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/>
          <p:cNvSpPr/>
          <p:nvPr/>
        </p:nvSpPr>
        <p:spPr>
          <a:xfrm>
            <a:off x="4389120" y="1947672"/>
            <a:ext cx="3401568" cy="233172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NOMOR SEMENTARA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2. Siapkan nomor nota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Gunakan jatah nomor yang sudah tersedia di perangkat.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Jika jatah habis, gunakan nomor sementara untuk cetak saja.</a:t>
            </a:r>
            <a:endParaRPr lang="id-ID" sz="1100"/>
          </a:p>
        </p:txBody>
      </p:sp>
      <p:sp>
        <p:nvSpPr>
          <p:cNvPr id="16" name="Shape 16"/>
          <p:cNvSpPr/>
          <p:nvPr/>
        </p:nvSpPr>
        <p:spPr>
          <a:xfrm>
            <a:off x="4389120" y="2020824"/>
            <a:ext cx="50292" cy="2185416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7" name="Shape 17"/>
          <p:cNvSpPr/>
          <p:nvPr/>
        </p:nvSpPr>
        <p:spPr>
          <a:xfrm>
            <a:off x="8028432" y="1947672"/>
            <a:ext cx="3401568" cy="233172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58C7B3"/>
                </a:solidFill>
                <a:latin typeface="Aptos"/>
              </a:rPr>
              <a:t xml:space="preserve">ANTREAN LOKAL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3. Simpan &amp; cetak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Nota disimpan di perangkat dengan status menunggu.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Nota tetap dicetak; kasir dapat melayani pembeli berikutnya.</a:t>
            </a:r>
            <a:endParaRPr lang="id-ID" sz="1100"/>
          </a:p>
        </p:txBody>
      </p:sp>
      <p:sp>
        <p:nvSpPr>
          <p:cNvPr id="18" name="Shape 18"/>
          <p:cNvSpPr/>
          <p:nvPr/>
        </p:nvSpPr>
        <p:spPr>
          <a:xfrm>
            <a:off x="8028432" y="2020824"/>
            <a:ext cx="50292" cy="2185416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9" name="Shape 19">
            <a:hlinkClick r:id="rId6" action="ppaction://hlinksldjump" tooltip="Lanjut ke tata cara sinkronisasi offline"/>
          </p:cNvPr>
          <p:cNvSpPr/>
          <p:nvPr/>
        </p:nvSpPr>
        <p:spPr>
          <a:xfrm>
            <a:off x="896112" y="4681728"/>
            <a:ext cx="10332720" cy="749808"/>
          </a:xfrm>
          <a:prstGeom prst="roundRect">
            <a:avLst/>
          </a:prstGeom>
          <a:solidFill>
            <a:srgbClr val="243248"/>
          </a:solidFill>
          <a:ln w="25400">
            <a:solidFill>
              <a:srgbClr val="435975"/>
            </a:solidFill>
          </a:ln>
        </p:spPr>
        <p:txBody>
          <a:bodyPr wrap="square" lIns="146304" rIns="146304" tIns="146304" bIns="146304" anchor="ctr"/>
          <a:lstStyle/>
          <a:p>
            <a:pPr algn="ctr" marB="200"/>
            <a:r>
              <a:rPr lang="id-ID" sz="1700" b="1">
                <a:solidFill>
                  <a:srgbClr val="FFFFFF"/>
                </a:solidFill>
                <a:latin typeface="Aptos"/>
              </a:rPr>
              <a:t xml:space="preserve">Saat koneksi kembali</a:t>
            </a:r>
            <a:endParaRPr lang="id-ID" sz="1700"/>
          </a:p>
          <a:p>
            <a:pPr algn="ctr" marB="0"/>
            <a:r>
              <a:rPr lang="id-ID" sz="1200">
                <a:solidFill>
                  <a:srgbClr val="C4D0E0"/>
                </a:solidFill>
                <a:latin typeface="Aptos"/>
              </a:rPr>
              <a:t xml:space="preserve">Kasir atau supervisor memasukkan PIN satu kali untuk mengirim antrean.</a:t>
            </a:r>
            <a:endParaRPr lang="id-ID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18766F"/>
          </a:solidFill>
          <a:ln w="25400">
            <a:solidFill>
              <a:srgbClr val="49BDAE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8" action="ppaction://hlinksldjump" tooltip="Lanjut ke slide 9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Sinkronisasi • kirim antrean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Setelah koneksi pulih, antrean dikirim secara teratur dan setiap nota tetap diperiksa.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08 / 11</a:t>
            </a:r>
            <a:endParaRPr lang="id-ID" sz="800"/>
          </a:p>
        </p:txBody>
      </p:sp>
      <p:sp>
        <p:nvSpPr>
          <p:cNvPr id="13" name="Shape 13"/>
          <p:cNvSpPr/>
          <p:nvPr/>
        </p:nvSpPr>
        <p:spPr>
          <a:xfrm>
            <a:off x="749808" y="1874520"/>
            <a:ext cx="3401568" cy="201168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69A9FF"/>
                </a:solidFill>
                <a:latin typeface="Aptos"/>
              </a:rPr>
              <a:t xml:space="preserve">KONEKSI PULIH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1. Otorisasi batch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Kasir atau supervisor memasukkan PIN.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Satu PIN berlaku untuk seluruh antrean yang dikirim saat itu.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49808" y="1947672"/>
            <a:ext cx="50292" cy="1865376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/>
          <p:cNvSpPr/>
          <p:nvPr/>
        </p:nvSpPr>
        <p:spPr>
          <a:xfrm>
            <a:off x="4389120" y="1874520"/>
            <a:ext cx="3401568" cy="201168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BD9AFF"/>
                </a:solidFill>
                <a:latin typeface="Aptos"/>
              </a:rPr>
              <a:t xml:space="preserve">FIFO • BATAS 200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2. Urutkan nota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Nota paling lama diproses lebih dulu.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Maksimal 200 nota dalam satu pengiriman.</a:t>
            </a:r>
            <a:endParaRPr lang="id-ID" sz="1100"/>
          </a:p>
        </p:txBody>
      </p:sp>
      <p:sp>
        <p:nvSpPr>
          <p:cNvPr id="16" name="Shape 16"/>
          <p:cNvSpPr/>
          <p:nvPr/>
        </p:nvSpPr>
        <p:spPr>
          <a:xfrm>
            <a:off x="4389120" y="1947672"/>
            <a:ext cx="50292" cy="1865376"/>
          </a:xfrm>
          <a:prstGeom prst="rect">
            <a:avLst/>
          </a:prstGeom>
          <a:solidFill>
            <a:srgbClr val="BD9AFF"/>
          </a:solidFill>
          <a:ln w="12700">
            <a:solidFill>
              <a:srgbClr val="BD9A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7" name="Shape 17"/>
          <p:cNvSpPr/>
          <p:nvPr/>
        </p:nvSpPr>
        <p:spPr>
          <a:xfrm>
            <a:off x="8028432" y="1874520"/>
            <a:ext cx="3401568" cy="2011680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58C7B3"/>
                </a:solidFill>
                <a:latin typeface="Aptos"/>
              </a:rPr>
              <a:t xml:space="preserve">HASIL PER NOTA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3. Periksa satu per satu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Sistem menilai setiap nota secara terpisah.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Hasil satu nota tidak boleh menghapus nota lain dari antrean.</a:t>
            </a:r>
            <a:endParaRPr lang="id-ID" sz="1100"/>
          </a:p>
        </p:txBody>
      </p:sp>
      <p:sp>
        <p:nvSpPr>
          <p:cNvPr id="18" name="Shape 18"/>
          <p:cNvSpPr/>
          <p:nvPr/>
        </p:nvSpPr>
        <p:spPr>
          <a:xfrm>
            <a:off x="8028432" y="1947672"/>
            <a:ext cx="50292" cy="1865376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9" name="Shape 19"/>
          <p:cNvSpPr/>
          <p:nvPr/>
        </p:nvSpPr>
        <p:spPr>
          <a:xfrm>
            <a:off x="896112" y="4343400"/>
            <a:ext cx="10332720" cy="731520"/>
          </a:xfrm>
          <a:prstGeom prst="roundRect">
            <a:avLst/>
          </a:prstGeom>
          <a:solidFill>
            <a:srgbClr val="243248"/>
          </a:solidFill>
          <a:ln w="12700">
            <a:solidFill>
              <a:srgbClr val="435975"/>
            </a:solidFill>
          </a:ln>
        </p:spPr>
        <p:txBody>
          <a:bodyPr wrap="square" lIns="146304" rIns="146304" tIns="146304" bIns="146304" anchor="ctr"/>
          <a:lstStyle/>
          <a:p>
            <a:pPr algn="ctr" marB="2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Batch tidak berarti semua nota pasti diterima.</a:t>
            </a:r>
            <a:endParaRPr lang="id-ID" sz="1600"/>
          </a:p>
          <a:p>
            <a:pPr algn="ctr" marB="0"/>
            <a:r>
              <a:rPr lang="id-ID" sz="1200">
                <a:solidFill>
                  <a:srgbClr val="C4D0E0"/>
                </a:solidFill>
                <a:latin typeface="Aptos"/>
              </a:rPr>
              <a:t xml:space="preserve">Sebagian bisa berhasil, ditolak dengan alasan, atau perlu dikirim ulang.</a:t>
            </a:r>
            <a:endParaRPr lang="id-ID" sz="1200"/>
          </a:p>
        </p:txBody>
      </p:sp>
      <p:sp>
        <p:nvSpPr>
          <p:cNvPr id="20" name="Shape 20"/>
          <p:cNvSpPr/>
          <p:nvPr/>
        </p:nvSpPr>
        <p:spPr>
          <a:xfrm>
            <a:off x="896112" y="5349240"/>
            <a:ext cx="10332720" cy="530352"/>
          </a:xfrm>
          <a:prstGeom prst="roundRect">
            <a:avLst/>
          </a:prstGeom>
          <a:solidFill>
            <a:srgbClr val="322D29"/>
          </a:solidFill>
          <a:ln w="12700">
            <a:solidFill>
              <a:srgbClr val="65533A"/>
            </a:solidFill>
          </a:ln>
        </p:spPr>
        <p:txBody>
          <a:bodyPr wrap="square" lIns="146304" rIns="146304" tIns="146304" bIns="146304" anchor="ctr"/>
          <a:lstStyle/>
          <a:p>
            <a:pPr algn="ctr" marB="500"/>
            <a:r>
              <a:rPr lang="id-ID" sz="1100" b="1">
                <a:solidFill>
                  <a:srgbClr val="F3BD65"/>
                </a:solidFill>
                <a:latin typeface="Aptos"/>
              </a:rPr>
              <a:t xml:space="preserve">Satu nota gagal tidak menghentikan pelayanan kasir atau menghilangkan nota yang masih menunggu.</a:t>
            </a:r>
            <a:endParaRPr lang="id-ID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18766F"/>
          </a:solidFill>
          <a:ln w="25400">
            <a:solidFill>
              <a:srgbClr val="49BDAE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8" action="ppaction://hlinksldjump" tooltip="Lanjut ke slide 11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Sinkronisasi • hasil setiap nota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Tandai dengan jelas mana yang selesai, perlu ditangani, dan aman untuk dicoba lagi.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09 / 11</a:t>
            </a:r>
            <a:endParaRPr lang="id-ID" sz="800"/>
          </a:p>
        </p:txBody>
      </p:sp>
      <p:sp>
        <p:nvSpPr>
          <p:cNvPr id="13" name="Shape 13"/>
          <p:cNvSpPr/>
          <p:nvPr/>
        </p:nvSpPr>
        <p:spPr>
          <a:xfrm>
            <a:off x="749808" y="1874520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58C7B3"/>
                </a:solidFill>
                <a:latin typeface="Aptos"/>
              </a:rPr>
              <a:t xml:space="preserve">SELESAI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Diterima / sudah pernah tercatat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Tandai nota sudah beres.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Nota memperoleh nomor resmi; duplikasi tidak dihitung dua kali.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49808" y="1947672"/>
            <a:ext cx="50292" cy="1527048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/>
          <p:cNvSpPr/>
          <p:nvPr/>
        </p:nvSpPr>
        <p:spPr>
          <a:xfrm>
            <a:off x="6199632" y="1874520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TINDAK LANJUT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Ditolak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Nota tidak dihapus dari perangkat.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Simpan status dan alasan penolakan untuk ditindaklanjuti.</a:t>
            </a:r>
            <a:endParaRPr lang="id-ID" sz="1100"/>
          </a:p>
        </p:txBody>
      </p:sp>
      <p:sp>
        <p:nvSpPr>
          <p:cNvPr id="16" name="Shape 16"/>
          <p:cNvSpPr/>
          <p:nvPr/>
        </p:nvSpPr>
        <p:spPr>
          <a:xfrm>
            <a:off x="6199632" y="1947672"/>
            <a:ext cx="50292" cy="152704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7" name="Shape 17"/>
          <p:cNvSpPr/>
          <p:nvPr/>
        </p:nvSpPr>
        <p:spPr>
          <a:xfrm>
            <a:off x="749808" y="3822192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F3BD65"/>
                </a:solidFill>
                <a:latin typeface="Aptos"/>
              </a:rPr>
              <a:t xml:space="preserve">ESKALASI MANUAL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Nomor nota bertabrakan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Jangan menimpa nota lain.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Eskalasi kepada petugas untuk pemeriksaan manual.</a:t>
            </a:r>
            <a:endParaRPr lang="id-ID" sz="1100"/>
          </a:p>
        </p:txBody>
      </p:sp>
      <p:sp>
        <p:nvSpPr>
          <p:cNvPr id="18" name="Shape 18"/>
          <p:cNvSpPr/>
          <p:nvPr/>
        </p:nvSpPr>
        <p:spPr>
          <a:xfrm>
            <a:off x="749808" y="3895344"/>
            <a:ext cx="50292" cy="152704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9" name="Shape 19"/>
          <p:cNvSpPr/>
          <p:nvPr/>
        </p:nvSpPr>
        <p:spPr>
          <a:xfrm>
            <a:off x="6199632" y="3822192"/>
            <a:ext cx="5166360" cy="1673352"/>
          </a:xfrm>
          <a:prstGeom prst="roundRect">
            <a:avLst/>
          </a:prstGeom>
          <a:solidFill>
            <a:srgbClr val="1C293B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BD9AFF"/>
                </a:solidFill>
                <a:latin typeface="Aptos"/>
              </a:rPr>
              <a:t xml:space="preserve">COBA LAGI NANTI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Gangguan sementara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Kesalahan jaringan atau layanan bukan penolakan permanen.</a:t>
            </a:r>
            <a:endParaRPr lang="id-ID" sz="11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Simpan untuk dicoba lagi secara otomatis nanti.</a:t>
            </a:r>
            <a:endParaRPr lang="id-ID" sz="1100"/>
          </a:p>
        </p:txBody>
      </p:sp>
      <p:sp>
        <p:nvSpPr>
          <p:cNvPr id="20" name="Shape 20"/>
          <p:cNvSpPr/>
          <p:nvPr/>
        </p:nvSpPr>
        <p:spPr>
          <a:xfrm>
            <a:off x="6199632" y="3895344"/>
            <a:ext cx="50292" cy="1527048"/>
          </a:xfrm>
          <a:prstGeom prst="rect">
            <a:avLst/>
          </a:prstGeom>
          <a:solidFill>
            <a:srgbClr val="BD9AFF"/>
          </a:solidFill>
          <a:ln w="12700">
            <a:solidFill>
              <a:srgbClr val="BD9A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1" name="Shape 21"/>
          <p:cNvSpPr/>
          <p:nvPr/>
        </p:nvSpPr>
        <p:spPr>
          <a:xfrm>
            <a:off x="822960" y="5760720"/>
            <a:ext cx="10515600" cy="393192"/>
          </a:xfrm>
          <a:prstGeom prst="roundRect">
            <a:avLst/>
          </a:prstGeom>
          <a:solidFill>
            <a:srgbClr val="182437"/>
          </a:solidFill>
          <a:ln w="12700">
            <a:solidFill>
              <a:srgbClr val="304158"/>
            </a:solidFill>
          </a:ln>
        </p:spPr>
        <p:txBody>
          <a:bodyPr wrap="square" lIns="146304" rIns="146304" tIns="146304" bIns="146304" anchor="ctr"/>
          <a:lstStyle/>
          <a:p>
            <a:pPr algn="ctr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Nota tetap terlacak sampai mendapatkan hasil akhir yang jelas.</a:t>
            </a:r>
            <a:endParaRPr lang="id-ID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18766F"/>
          </a:solidFill>
          <a:ln w="25400">
            <a:solidFill>
              <a:srgbClr val="49BDAE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3" action="ppaction://hlinksldjump" tooltip="Lanjut ke slide 2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Panduan cepat • jika ada kendala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Pilih masalah untuk membuka penjelasan proses yang relevan.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10 / 11</a:t>
            </a:r>
            <a:endParaRPr lang="id-ID" sz="800"/>
          </a:p>
        </p:txBody>
      </p:sp>
      <p:sp>
        <p:nvSpPr>
          <p:cNvPr id="13" name="Shape 13">
            <a:hlinkClick r:id="rId4" action="ppaction://hlinksldjump" tooltip="Perangkat tidak terdaftar — buka detail"/>
          </p:cNvPr>
          <p:cNvSpPr/>
          <p:nvPr/>
        </p:nvSpPr>
        <p:spPr>
          <a:xfrm>
            <a:off x="749808" y="1847088"/>
            <a:ext cx="5166360" cy="117043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Perangkat tidak terdaftar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Daftarkan ulang perangkat, lalu kirim transaksi online kembali.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49808" y="1920240"/>
            <a:ext cx="50292" cy="102412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>
            <a:hlinkClick r:id="rId4" action="ppaction://hlinksldjump" tooltip="PIN salah atau dikunci — buka detail"/>
          </p:cNvPr>
          <p:cNvSpPr/>
          <p:nvPr/>
        </p:nvSpPr>
        <p:spPr>
          <a:xfrm>
            <a:off x="6199632" y="1847088"/>
            <a:ext cx="5166360" cy="117043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PIN salah atau dikunci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Periksa PIN; bila terkunci sementara, tunggu beberapa menit.</a:t>
            </a:r>
            <a:endParaRPr lang="id-ID" sz="1100"/>
          </a:p>
        </p:txBody>
      </p:sp>
      <p:sp>
        <p:nvSpPr>
          <p:cNvPr id="16" name="Shape 16"/>
          <p:cNvSpPr/>
          <p:nvPr/>
        </p:nvSpPr>
        <p:spPr>
          <a:xfrm>
            <a:off x="6199632" y="1920240"/>
            <a:ext cx="50292" cy="102412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7" name="Shape 17">
            <a:hlinkClick r:id="rId8" action="ppaction://hlinksldjump" tooltip="Total / kembalian tidak cocok — buka detail"/>
          </p:cNvPr>
          <p:cNvSpPr/>
          <p:nvPr/>
        </p:nvSpPr>
        <p:spPr>
          <a:xfrm>
            <a:off x="749808" y="3227832"/>
            <a:ext cx="5166360" cy="117043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Total / kembalian tidak cocok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Perbaiki isi nota sebelum dikirim ulang.</a:t>
            </a:r>
            <a:endParaRPr lang="id-ID" sz="1100"/>
          </a:p>
        </p:txBody>
      </p:sp>
      <p:sp>
        <p:nvSpPr>
          <p:cNvPr id="18" name="Shape 18"/>
          <p:cNvSpPr/>
          <p:nvPr/>
        </p:nvSpPr>
        <p:spPr>
          <a:xfrm>
            <a:off x="749808" y="3300984"/>
            <a:ext cx="50292" cy="102412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9" name="Shape 19">
            <a:hlinkClick r:id="rId8" action="ppaction://hlinksldjump" tooltip="Stok habis atau harga di luar batas — buka detail"/>
          </p:cNvPr>
          <p:cNvSpPr/>
          <p:nvPr/>
        </p:nvSpPr>
        <p:spPr>
          <a:xfrm>
            <a:off x="6199632" y="3227832"/>
            <a:ext cx="5166360" cy="117043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Stok habis atau harga di luar batas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Transaksi ditolak; sesuaikan barang atau harga.</a:t>
            </a:r>
            <a:endParaRPr lang="id-ID" sz="1100"/>
          </a:p>
        </p:txBody>
      </p:sp>
      <p:sp>
        <p:nvSpPr>
          <p:cNvPr id="20" name="Shape 20"/>
          <p:cNvSpPr/>
          <p:nvPr/>
        </p:nvSpPr>
        <p:spPr>
          <a:xfrm>
            <a:off x="6199632" y="3300984"/>
            <a:ext cx="50292" cy="102412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1" name="Shape 21">
            <a:hlinkClick r:id="rId9" action="ppaction://hlinksldjump" tooltip="Nomor nota bentrok — buka detail"/>
          </p:cNvPr>
          <p:cNvSpPr/>
          <p:nvPr/>
        </p:nvSpPr>
        <p:spPr>
          <a:xfrm>
            <a:off x="749808" y="4608576"/>
            <a:ext cx="5166360" cy="117043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Nomor nota bentrok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Hentikan pemrosesan otomatis dan minta petugas memeriksa.</a:t>
            </a:r>
            <a:endParaRPr lang="id-ID" sz="1100"/>
          </a:p>
        </p:txBody>
      </p:sp>
      <p:sp>
        <p:nvSpPr>
          <p:cNvPr id="22" name="Shape 22"/>
          <p:cNvSpPr/>
          <p:nvPr/>
        </p:nvSpPr>
        <p:spPr>
          <a:xfrm>
            <a:off x="749808" y="4681728"/>
            <a:ext cx="50292" cy="102412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23" name="Shape 23">
            <a:hlinkClick r:id="rId9" action="ppaction://hlinksldjump" tooltip="Jaringan / sistem sementara terganggu — buka detail"/>
          </p:cNvPr>
          <p:cNvSpPr/>
          <p:nvPr/>
        </p:nvSpPr>
        <p:spPr>
          <a:xfrm>
            <a:off x="6199632" y="4608576"/>
            <a:ext cx="5166360" cy="117043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BUKA DETAIL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Jaringan / sistem sementara terganggu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Nota offline tetap antre; pengiriman dicoba lagi nanti.</a:t>
            </a:r>
            <a:endParaRPr lang="id-ID" sz="1100"/>
          </a:p>
        </p:txBody>
      </p:sp>
      <p:sp>
        <p:nvSpPr>
          <p:cNvPr id="24" name="Shape 24"/>
          <p:cNvSpPr/>
          <p:nvPr/>
        </p:nvSpPr>
        <p:spPr>
          <a:xfrm>
            <a:off x="6199632" y="4681728"/>
            <a:ext cx="50292" cy="1024128"/>
          </a:xfrm>
          <a:prstGeom prst="rect">
            <a:avLst/>
          </a:prstGeom>
          <a:solidFill>
            <a:srgbClr val="BD9AFF"/>
          </a:solidFill>
          <a:ln w="12700">
            <a:solidFill>
              <a:srgbClr val="BD9A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0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0"/>
          </a:p>
        </p:txBody>
      </p:sp>
      <p:sp>
        <p:nvSpPr>
          <p:cNvPr id="3" name="Shape 3">
            <a:hlinkClick r:id="rId2" action="ppaction://hlinksldjump" tooltip="Navigasi ke HOME"/>
          </p:cNvPr>
          <p:cNvSpPr/>
          <p:nvPr/>
        </p:nvSpPr>
        <p:spPr>
          <a:xfrm>
            <a:off x="621792" y="182880"/>
            <a:ext cx="1078992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HOME</a:t>
            </a:r>
            <a:endParaRPr lang="id-ID" sz="900"/>
          </a:p>
        </p:txBody>
      </p:sp>
      <p:sp>
        <p:nvSpPr>
          <p:cNvPr id="4" name="Shape 4">
            <a:hlinkClick r:id="rId3" action="ppaction://hlinksldjump" tooltip="Navigasi ke ALUR"/>
          </p:cNvPr>
          <p:cNvSpPr/>
          <p:nvPr/>
        </p:nvSpPr>
        <p:spPr>
          <a:xfrm>
            <a:off x="1792224" y="182880"/>
            <a:ext cx="138988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ALUR</a:t>
            </a:r>
            <a:endParaRPr lang="id-ID" sz="900"/>
          </a:p>
        </p:txBody>
      </p:sp>
      <p:sp>
        <p:nvSpPr>
          <p:cNvPr id="5" name="Shape 5">
            <a:hlinkClick r:id="rId4" action="ppaction://hlinksldjump" tooltip="Navigasi ke ONLINE"/>
          </p:cNvPr>
          <p:cNvSpPr/>
          <p:nvPr/>
        </p:nvSpPr>
        <p:spPr>
          <a:xfrm>
            <a:off x="3273552" y="182880"/>
            <a:ext cx="1499616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900"/>
          </a:p>
        </p:txBody>
      </p:sp>
      <p:sp>
        <p:nvSpPr>
          <p:cNvPr id="6" name="Shape 6">
            <a:hlinkClick r:id="rId5" action="ppaction://hlinksldjump" tooltip="Navigasi ke OFFLINE"/>
          </p:cNvPr>
          <p:cNvSpPr/>
          <p:nvPr/>
        </p:nvSpPr>
        <p:spPr>
          <a:xfrm>
            <a:off x="4864608" y="182880"/>
            <a:ext cx="1554480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900"/>
          </a:p>
        </p:txBody>
      </p:sp>
      <p:sp>
        <p:nvSpPr>
          <p:cNvPr id="7" name="Shape 7">
            <a:hlinkClick r:id="rId6" action="ppaction://hlinksldjump" tooltip="Navigasi ke SINKRON"/>
          </p:cNvPr>
          <p:cNvSpPr/>
          <p:nvPr/>
        </p:nvSpPr>
        <p:spPr>
          <a:xfrm>
            <a:off x="6510528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SINKRON</a:t>
            </a:r>
            <a:endParaRPr lang="id-ID" sz="900"/>
          </a:p>
        </p:txBody>
      </p:sp>
      <p:sp>
        <p:nvSpPr>
          <p:cNvPr id="8" name="Shape 8">
            <a:hlinkClick r:id="rId7" action="ppaction://hlinksldjump" tooltip="Navigasi ke BANTUAN"/>
          </p:cNvPr>
          <p:cNvSpPr/>
          <p:nvPr/>
        </p:nvSpPr>
        <p:spPr>
          <a:xfrm>
            <a:off x="8174736" y="182880"/>
            <a:ext cx="1572768" cy="347472"/>
          </a:xfrm>
          <a:prstGeom prst="roundRect">
            <a:avLst/>
          </a:prstGeom>
          <a:solidFill>
            <a:srgbClr val="244F78"/>
          </a:solidFill>
          <a:ln w="25400">
            <a:solidFill>
              <a:srgbClr val="5E9DE0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BANTUAN</a:t>
            </a:r>
            <a:endParaRPr lang="id-ID" sz="900"/>
          </a:p>
        </p:txBody>
      </p:sp>
      <p:sp>
        <p:nvSpPr>
          <p:cNvPr id="9" name="Shape 9">
            <a:hlinkClick r:id="rId2" action="ppaction://hlinksldjump" tooltip="Lanjut ke slide 1"/>
          </p:cNvPr>
          <p:cNvSpPr/>
          <p:nvPr/>
        </p:nvSpPr>
        <p:spPr>
          <a:xfrm>
            <a:off x="9838944" y="182880"/>
            <a:ext cx="1755648" cy="347472"/>
          </a:xfrm>
          <a:prstGeom prst="roundRect">
            <a:avLst/>
          </a:prstGeom>
          <a:solidFill>
            <a:srgbClr val="8A5C20"/>
          </a:solidFill>
          <a:ln w="25400">
            <a:solidFill>
              <a:srgbClr val="F3BD65"/>
            </a:solidFill>
          </a:ln>
        </p:spPr>
        <p:txBody>
          <a:bodyPr wrap="square" lIns="36576" rIns="36576" tIns="36576" bIns="36576" anchor="ctr"/>
          <a:lstStyle/>
          <a:p>
            <a:pPr algn="ctr" marB="0"/>
            <a:r>
              <a:rPr lang="id-ID" sz="900" b="1">
                <a:solidFill>
                  <a:srgbClr val="FFFFFF"/>
                </a:solidFill>
                <a:latin typeface="Aptos"/>
              </a:rPr>
              <a:t xml:space="preserve">LANJUT →</a:t>
            </a:r>
            <a:endParaRPr lang="id-ID" sz="900"/>
          </a:p>
        </p:txBody>
      </p:sp>
      <p:sp>
        <p:nvSpPr>
          <p:cNvPr id="10" name="Shape 10"/>
          <p:cNvSpPr/>
          <p:nvPr/>
        </p:nvSpPr>
        <p:spPr>
          <a:xfrm>
            <a:off x="621792" y="667512"/>
            <a:ext cx="10881360" cy="521208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2700" b="1">
                <a:solidFill>
                  <a:srgbClr val="FFFFFF"/>
                </a:solidFill>
                <a:latin typeface="Aptos"/>
              </a:rPr>
              <a:t xml:space="preserve">Selesai • transaksi tertangani</a:t>
            </a:r>
            <a:endParaRPr lang="id-ID" sz="2700"/>
          </a:p>
        </p:txBody>
      </p:sp>
      <p:sp>
        <p:nvSpPr>
          <p:cNvPr id="11" name="Shape 11"/>
          <p:cNvSpPr/>
          <p:nvPr/>
        </p:nvSpPr>
        <p:spPr>
          <a:xfrm>
            <a:off x="640080" y="1225296"/>
            <a:ext cx="10789920" cy="393192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1200">
                <a:solidFill>
                  <a:srgbClr val="AFC0D5"/>
                </a:solidFill>
                <a:latin typeface="Aptos"/>
              </a:rPr>
              <a:t xml:space="preserve">Ringkas tiga prinsip operasional yang perlu diingat saat melayani pembeli.</a:t>
            </a:r>
            <a:endParaRPr lang="id-ID" sz="1200"/>
          </a:p>
        </p:txBody>
      </p:sp>
      <p:sp>
        <p:nvSpPr>
          <p:cNvPr id="12" name="Shape 12"/>
          <p:cNvSpPr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 wrap="square" lIns="146304" rIns="146304" tIns="146304" bIns="146304" anchor="ctr"/>
          <a:lstStyle/>
          <a:p>
            <a:pPr algn="l" marB="500"/>
            <a:r>
              <a:rPr lang="id-ID" sz="800">
                <a:solidFill>
                  <a:srgbClr val="71839B"/>
                </a:solidFill>
                <a:latin typeface="Aptos"/>
              </a:rPr>
              <a:t xml:space="preserve">POS • PROSES BISNIS     |     11 / 11</a:t>
            </a:r>
            <a:endParaRPr lang="id-ID" sz="800"/>
          </a:p>
        </p:txBody>
      </p:sp>
      <p:sp>
        <p:nvSpPr>
          <p:cNvPr id="13" name="Shape 13">
            <a:hlinkClick r:id="rId8" action="ppaction://hlinksldjump" tooltip="Harga sesuai batas — buka detail"/>
          </p:cNvPr>
          <p:cNvSpPr/>
          <p:nvPr/>
        </p:nvSpPr>
        <p:spPr>
          <a:xfrm>
            <a:off x="749808" y="1865376"/>
            <a:ext cx="3401568" cy="190195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KONTROL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Harga sesuai batas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Harga kesepakatan tidak lebih rendah dari batas minimum dan tidak melampaui harga daftar.</a:t>
            </a:r>
            <a:endParaRPr lang="id-ID" sz="1100"/>
          </a:p>
        </p:txBody>
      </p:sp>
      <p:sp>
        <p:nvSpPr>
          <p:cNvPr id="14" name="Shape 14"/>
          <p:cNvSpPr/>
          <p:nvPr/>
        </p:nvSpPr>
        <p:spPr>
          <a:xfrm>
            <a:off x="749808" y="1938528"/>
            <a:ext cx="50292" cy="1755648"/>
          </a:xfrm>
          <a:prstGeom prst="rect">
            <a:avLst/>
          </a:prstGeom>
          <a:solidFill>
            <a:srgbClr val="58C7B3"/>
          </a:solidFill>
          <a:ln w="12700">
            <a:solidFill>
              <a:srgbClr val="58C7B3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5" name="Shape 15">
            <a:hlinkClick r:id="rId9" action="ppaction://hlinksldjump" tooltip="Online aman — buka detail"/>
          </p:cNvPr>
          <p:cNvSpPr/>
          <p:nvPr/>
        </p:nvSpPr>
        <p:spPr>
          <a:xfrm>
            <a:off x="4389120" y="1865376"/>
            <a:ext cx="3401568" cy="190195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AKURASI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Online aman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Perangkat dan PIN diverifikasi; nota tervalidasi sebelum pencatatan dan perubahan stok.</a:t>
            </a:r>
            <a:endParaRPr lang="id-ID" sz="1100"/>
          </a:p>
        </p:txBody>
      </p:sp>
      <p:sp>
        <p:nvSpPr>
          <p:cNvPr id="16" name="Shape 16"/>
          <p:cNvSpPr/>
          <p:nvPr/>
        </p:nvSpPr>
        <p:spPr>
          <a:xfrm>
            <a:off x="4389120" y="1938528"/>
            <a:ext cx="50292" cy="1755648"/>
          </a:xfrm>
          <a:prstGeom prst="rect">
            <a:avLst/>
          </a:prstGeom>
          <a:solidFill>
            <a:srgbClr val="69A9FF"/>
          </a:solidFill>
          <a:ln w="12700">
            <a:solidFill>
              <a:srgbClr val="69A9FF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7" name="Shape 17">
            <a:hlinkClick r:id="rId10" action="ppaction://hlinksldjump" tooltip="Offline tetap terlacak — buka detail"/>
          </p:cNvPr>
          <p:cNvSpPr/>
          <p:nvPr/>
        </p:nvSpPr>
        <p:spPr>
          <a:xfrm>
            <a:off x="8028432" y="1865376"/>
            <a:ext cx="3401568" cy="1901952"/>
          </a:xfrm>
          <a:prstGeom prst="roundRect">
            <a:avLst/>
          </a:prstGeom>
          <a:solidFill>
            <a:srgbClr val="203D5F"/>
          </a:solidFill>
          <a:ln w="25400">
            <a:solidFill>
              <a:srgbClr val="5E9DE0"/>
            </a:solidFill>
          </a:ln>
        </p:spPr>
        <p:txBody>
          <a:bodyPr wrap="square" lIns="146304" rIns="146304" tIns="146304" bIns="146304" anchor="ctr"/>
          <a:lstStyle/>
          <a:p>
            <a:pPr algn="l" marB="700"/>
            <a:r>
              <a:rPr lang="id-ID" sz="900" b="1">
                <a:solidFill>
                  <a:srgbClr val="A7CEFF"/>
                </a:solidFill>
                <a:latin typeface="Aptos"/>
              </a:rPr>
              <a:t xml:space="preserve">KLIK  •  KETAHANAN</a:t>
            </a:r>
            <a:endParaRPr lang="id-ID" sz="900"/>
          </a:p>
          <a:p>
            <a:pPr algn="l" marB="800"/>
            <a:r>
              <a:rPr lang="id-ID" sz="1600" b="1">
                <a:solidFill>
                  <a:srgbClr val="FFFFFF"/>
                </a:solidFill>
                <a:latin typeface="Aptos"/>
              </a:rPr>
              <a:t xml:space="preserve">Offline tetap terlacak</a:t>
            </a:r>
            <a:endParaRPr lang="id-ID" sz="1600"/>
          </a:p>
          <a:p>
            <a:pPr algn="l" marB="500"/>
            <a:r>
              <a:rPr lang="id-ID" sz="1100">
                <a:solidFill>
                  <a:srgbClr val="C4D0E0"/>
                </a:solidFill>
                <a:latin typeface="Aptos"/>
              </a:rPr>
              <a:t xml:space="preserve">Nota tidak hilang: dicetak, diantrekan, lalu diproses satu per satu saat koneksi pulih.</a:t>
            </a:r>
            <a:endParaRPr lang="id-ID" sz="1100"/>
          </a:p>
        </p:txBody>
      </p:sp>
      <p:sp>
        <p:nvSpPr>
          <p:cNvPr id="18" name="Shape 18"/>
          <p:cNvSpPr/>
          <p:nvPr/>
        </p:nvSpPr>
        <p:spPr>
          <a:xfrm>
            <a:off x="8028432" y="1938528"/>
            <a:ext cx="50292" cy="1755648"/>
          </a:xfrm>
          <a:prstGeom prst="rect">
            <a:avLst/>
          </a:prstGeom>
          <a:solidFill>
            <a:srgbClr val="F3BD65"/>
          </a:solidFill>
          <a:ln w="12700">
            <a:solidFill>
              <a:srgbClr val="F3BD65"/>
            </a:solidFill>
          </a:ln>
        </p:spPr>
        <p:txBody>
          <a:bodyPr wrap="square" lIns="0" rIns="0" tIns="0" bIns="0" anchor="ctr"/>
          <a:lstStyle/>
          <a:p>
            <a:pPr algn="l" marB="500"/>
            <a:r>
              <a:rPr lang="id-ID" sz="100">
                <a:solidFill>
                  <a:srgbClr val="E9F0FA"/>
                </a:solidFill>
                <a:latin typeface="Aptos"/>
              </a:rPr>
              <a:t xml:space="preserve"/>
            </a:r>
            <a:endParaRPr lang="id-ID" sz="100"/>
          </a:p>
        </p:txBody>
      </p:sp>
      <p:sp>
        <p:nvSpPr>
          <p:cNvPr id="19" name="Shape 19"/>
          <p:cNvSpPr/>
          <p:nvPr/>
        </p:nvSpPr>
        <p:spPr>
          <a:xfrm>
            <a:off x="896112" y="4315968"/>
            <a:ext cx="10332720" cy="749808"/>
          </a:xfrm>
          <a:prstGeom prst="roundRect">
            <a:avLst/>
          </a:prstGeom>
          <a:solidFill>
            <a:srgbClr val="243248"/>
          </a:solidFill>
          <a:ln w="12700">
            <a:solidFill>
              <a:srgbClr val="435975"/>
            </a:solidFill>
          </a:ln>
        </p:spPr>
        <p:txBody>
          <a:bodyPr wrap="square" lIns="146304" rIns="146304" tIns="146304" bIns="146304" anchor="ctr"/>
          <a:lstStyle/>
          <a:p>
            <a:pPr algn="ctr" marB="200"/>
            <a:r>
              <a:rPr lang="id-ID" sz="1700" b="1">
                <a:solidFill>
                  <a:srgbClr val="FFFFFF"/>
                </a:solidFill>
                <a:latin typeface="Aptos"/>
              </a:rPr>
              <a:t xml:space="preserve">Pilih jalur lain atau kembali ke awal</a:t>
            </a:r>
            <a:endParaRPr lang="id-ID" sz="1700"/>
          </a:p>
          <a:p>
            <a:pPr algn="ctr" marB="0"/>
            <a:r>
              <a:rPr lang="id-ID" sz="1200">
                <a:solidFill>
                  <a:srgbClr val="C4D0E0"/>
                </a:solidFill>
                <a:latin typeface="Aptos"/>
              </a:rPr>
              <a:t xml:space="preserve">Tautan navigasi di bagian atas tetap aktif pada setiap slide.</a:t>
            </a:r>
            <a:endParaRPr lang="id-ID" sz="1200"/>
          </a:p>
        </p:txBody>
      </p:sp>
      <p:sp>
        <p:nvSpPr>
          <p:cNvPr id="20" name="Shape 20">
            <a:hlinkClick r:id="rId3" action="ppaction://hlinksldjump" tooltip="Buka slide 2"/>
          </p:cNvPr>
          <p:cNvSpPr/>
          <p:nvPr/>
        </p:nvSpPr>
        <p:spPr>
          <a:xfrm>
            <a:off x="1920240" y="5349240"/>
            <a:ext cx="2423160" cy="566928"/>
          </a:xfrm>
          <a:prstGeom prst="roundRect">
            <a:avLst/>
          </a:prstGeom>
          <a:solidFill>
            <a:srgbClr val="245B61"/>
          </a:solidFill>
          <a:ln w="25400">
            <a:solidFill>
              <a:srgbClr val="367E7C"/>
            </a:solidFill>
          </a:ln>
        </p:spPr>
        <p:txBody>
          <a:bodyPr wrap="square" lIns="146304" rIns="146304" tIns="146304" bIns="146304" anchor="ctr"/>
          <a:lstStyle/>
          <a:p>
            <a:pPr algn="ctr" marB="0"/>
            <a:r>
              <a:rPr lang="id-ID" sz="1100" b="1">
                <a:solidFill>
                  <a:srgbClr val="FFFFFF"/>
                </a:solidFill>
                <a:latin typeface="Aptos"/>
              </a:rPr>
              <a:t xml:space="preserve">ULANGI ALUR</a:t>
            </a:r>
            <a:endParaRPr lang="id-ID" sz="1100"/>
          </a:p>
        </p:txBody>
      </p:sp>
      <p:sp>
        <p:nvSpPr>
          <p:cNvPr id="21" name="Shape 21">
            <a:hlinkClick r:id="rId4" action="ppaction://hlinksldjump" tooltip="Buka slide 4"/>
          </p:cNvPr>
          <p:cNvSpPr/>
          <p:nvPr/>
        </p:nvSpPr>
        <p:spPr>
          <a:xfrm>
            <a:off x="4892040" y="5349240"/>
            <a:ext cx="2423160" cy="566928"/>
          </a:xfrm>
          <a:prstGeom prst="roundRect">
            <a:avLst/>
          </a:prstGeom>
          <a:solidFill>
            <a:srgbClr val="233F63"/>
          </a:solidFill>
          <a:ln w="25400">
            <a:solidFill>
              <a:srgbClr val="3D6695"/>
            </a:solidFill>
          </a:ln>
        </p:spPr>
        <p:txBody>
          <a:bodyPr wrap="square" lIns="146304" rIns="146304" tIns="146304" bIns="146304" anchor="ctr"/>
          <a:lstStyle/>
          <a:p>
            <a:pPr algn="ctr" marB="0"/>
            <a:r>
              <a:rPr lang="id-ID" sz="1100" b="1">
                <a:solidFill>
                  <a:srgbClr val="FFFFFF"/>
                </a:solidFill>
                <a:latin typeface="Aptos"/>
              </a:rPr>
              <a:t xml:space="preserve">ONLINE</a:t>
            </a:r>
            <a:endParaRPr lang="id-ID" sz="1100"/>
          </a:p>
        </p:txBody>
      </p:sp>
      <p:sp>
        <p:nvSpPr>
          <p:cNvPr id="22" name="Shape 22">
            <a:hlinkClick r:id="rId5" action="ppaction://hlinksldjump" tooltip="Buka slide 7"/>
          </p:cNvPr>
          <p:cNvSpPr/>
          <p:nvPr/>
        </p:nvSpPr>
        <p:spPr>
          <a:xfrm>
            <a:off x="7863840" y="5349240"/>
            <a:ext cx="2423160" cy="566928"/>
          </a:xfrm>
          <a:prstGeom prst="roundRect">
            <a:avLst/>
          </a:prstGeom>
          <a:solidFill>
            <a:srgbClr val="4C3B2B"/>
          </a:solidFill>
          <a:ln w="25400">
            <a:solidFill>
              <a:srgbClr val="7A6041"/>
            </a:solidFill>
          </a:ln>
        </p:spPr>
        <p:txBody>
          <a:bodyPr wrap="square" lIns="146304" rIns="146304" tIns="146304" bIns="146304" anchor="ctr"/>
          <a:lstStyle/>
          <a:p>
            <a:pPr algn="ctr" marB="0"/>
            <a:r>
              <a:rPr lang="id-ID" sz="1100" b="1">
                <a:solidFill>
                  <a:srgbClr val="FFFFFF"/>
                </a:solidFill>
                <a:latin typeface="Aptos"/>
              </a:rPr>
              <a:t xml:space="preserve">OFFLINE</a:t>
            </a:r>
            <a:endParaRPr lang="id-ID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 Night">
  <a:themeElements>
    <a:clrScheme name="POS Night">
      <a:dk1>
        <a:srgbClr val="101827"/>
      </a:dk1>
      <a:lt1>
        <a:srgbClr val="FFFFFF"/>
      </a:lt1>
      <a:dk2>
        <a:srgbClr val="1C293B"/>
      </a:dk2>
      <a:lt2>
        <a:srgbClr val="E9F0FA"/>
      </a:lt2>
      <a:accent1>
        <a:srgbClr val="58C7B3"/>
      </a:accent1>
      <a:accent2>
        <a:srgbClr val="69A9FF"/>
      </a:accent2>
      <a:accent3>
        <a:srgbClr val="F3BD65"/>
      </a:accent3>
      <a:accent4>
        <a:srgbClr val="BD9AFF"/>
      </a:accent4>
      <a:accent5>
        <a:srgbClr val="304158"/>
      </a:accent5>
      <a:accent6>
        <a:srgbClr val="8295AC"/>
      </a:accent6>
      <a:hlink>
        <a:srgbClr val="69A9FF"/>
      </a:hlink>
      <a:folHlink>
        <a:srgbClr val="BD9AFF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O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90000"/>
                <a:sat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</a:schemeClr>
            </a:gs>
            <a:gs pos="100000">
              <a:schemeClr val="phClr">
                <a:lumMod val="88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Alur Transaksi POS - Interaktif</dc:title>
  <dc:subject>Business process penjualan online dan offline</dc:subject>
  <dc:creator>POS</dc:creator>
  <dc:language>id-ID</dc:language>
</cp:coreProperties>
</file>